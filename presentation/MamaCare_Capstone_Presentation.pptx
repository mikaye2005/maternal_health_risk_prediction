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320040"/>
            <a:ext cx="11365992" cy="5989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669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47857"/>
                </a:solidFill>
                <a:latin typeface="Aptos"/>
              </a:defRPr>
            </a:pPr>
            <a:r>
              <a:t>MATERNAL HEALTH CLASSIFICATION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43000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065F46"/>
                </a:solidFill>
                <a:latin typeface="Aptos"/>
              </a:defRPr>
            </a:pPr>
            <a:r>
              <a:t>MamaCare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Aptos"/>
              </a:defRPr>
            </a:pPr>
            <a:r>
              <a:t>A complete, reproducible project for classifying maternal-health records as Low, Mid or High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99232"/>
            <a:ext cx="5394960" cy="9601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18688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9A3412"/>
                </a:solidFill>
                <a:latin typeface="Aptos"/>
              </a:defRPr>
            </a:pPr>
            <a:r>
              <a:t>Academic screening-support demonstration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02152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7C2D12"/>
                </a:solidFill>
                <a:latin typeface="Aptos"/>
              </a:defRPr>
            </a:pPr>
            <a:r>
              <a:t>Not a diagnosis, treatment tool, triage system or emergency assessment.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960120"/>
            <a:ext cx="1508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960120"/>
            <a:ext cx="73152" cy="1143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1106424"/>
            <a:ext cx="11887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1344168"/>
            <a:ext cx="118871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Aptos"/>
              </a:defRPr>
            </a:pPr>
            <a:r>
              <a:t>1,014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1764792"/>
            <a:ext cx="1188719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Aptos"/>
              </a:defRPr>
            </a:pPr>
            <a:r>
              <a:t>Downloaded 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960120"/>
            <a:ext cx="1325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94192" y="960120"/>
            <a:ext cx="73152" cy="1143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04504" y="1106424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1344168"/>
            <a:ext cx="1005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504" y="1764792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Aptos"/>
              </a:defRPr>
            </a:pPr>
            <a:r>
              <a:t>Routine measures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93808" y="960120"/>
            <a:ext cx="1325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93808" y="9601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1106424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CLASSES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1344168"/>
            <a:ext cx="1005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1764792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Aptos"/>
              </a:defRPr>
            </a:pPr>
            <a:r>
              <a:t>Risk categories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2377440"/>
            <a:ext cx="449884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2651760"/>
            <a:ext cx="3886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65F46"/>
                </a:solidFill>
                <a:latin typeface="Aptos"/>
              </a:defRPr>
            </a:pPr>
            <a:r>
              <a:t>Final problem statement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063240"/>
            <a:ext cx="3794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Predict RiskLevel using six measurements, evaluated primarily by Weighted F1 on an untouched group-separated test set.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224528"/>
            <a:ext cx="37490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Population represented: UCI records from rural Bangladesh; not Kenyan clinical validation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06440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Collins Mikaye  |  August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65392"/>
            <a:ext cx="4297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MamaCare Capstone  |  Collins Mikaye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475569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303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47857"/>
                </a:solidFill>
                <a:latin typeface="Aptos"/>
              </a:defRPr>
            </a:pPr>
            <a:r>
              <a:t>DATA AND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65F46"/>
                </a:solidFill>
                <a:latin typeface="Aptos"/>
              </a:defRPr>
            </a:pPr>
            <a:r>
              <a:t>The model was evaluated without duplicate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The data-quality audit shaped every modelling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74519" cy="7498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75104"/>
            <a:ext cx="2926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65F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195681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196596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4785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828800"/>
            <a:ext cx="1874519" cy="7498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1975104"/>
            <a:ext cx="2926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65F4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195681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196596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4785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1828800"/>
            <a:ext cx="1874519" cy="7498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1975104"/>
            <a:ext cx="2926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65F4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4416" y="195681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Group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196596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4785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9208" y="1828800"/>
            <a:ext cx="1874519" cy="7498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1975104"/>
            <a:ext cx="2926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65F4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195681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1965960"/>
            <a:ext cx="256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4785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9488" y="1828800"/>
            <a:ext cx="1874519" cy="7498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6648" y="1975104"/>
            <a:ext cx="2926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65F4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4976" y="195681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2880360"/>
            <a:ext cx="2084831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2880360"/>
            <a:ext cx="73152" cy="1143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026664"/>
            <a:ext cx="176479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EXACT DUPLICATES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264408"/>
            <a:ext cx="1764791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Aptos"/>
              </a:defRPr>
            </a:pPr>
            <a:r>
              <a:t>562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685032"/>
            <a:ext cx="1764791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Aptos"/>
              </a:defRPr>
            </a:pPr>
            <a:r>
              <a:t>Kept in one split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07792" y="2880360"/>
            <a:ext cx="2084831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07792" y="2880360"/>
            <a:ext cx="73152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18104" y="3026664"/>
            <a:ext cx="176479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CONFLICTING SIGNATURES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18104" y="3264408"/>
            <a:ext cx="1764791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8104" y="3685032"/>
            <a:ext cx="1764791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Aptos"/>
              </a:defRPr>
            </a:pPr>
            <a:r>
              <a:t>Same inputs, different labels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57216" y="2880360"/>
            <a:ext cx="2084831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57216" y="2880360"/>
            <a:ext cx="73152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67528" y="3026664"/>
            <a:ext cx="176479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ROWS IN CONFLICTS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7528" y="3264408"/>
            <a:ext cx="1764791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Aptos"/>
              </a:defRPr>
            </a:pPr>
            <a:r>
              <a:t>215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7528" y="3685032"/>
            <a:ext cx="1764791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Aptos"/>
              </a:defRPr>
            </a:pPr>
            <a:r>
              <a:t>Hard learning limit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2880360"/>
            <a:ext cx="38862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82127" y="3145536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65F46"/>
                </a:solidFill>
                <a:latin typeface="Aptos"/>
              </a:defRPr>
            </a:pPr>
            <a:r>
              <a:t>Models compared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7" y="3547872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Aptos"/>
              </a:defRPr>
            </a:pPr>
            <a:r>
              <a:t>Baseline • Logistic Regression • Decision Tree • Random Forest • SVC • Gradient Boosting • XGBoost • Shallow MLP • Deep MLP • Soft Voting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4828032"/>
            <a:ext cx="3017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47857"/>
                </a:solidFill>
                <a:latin typeface="Aptos"/>
              </a:defRPr>
            </a:pPr>
            <a:r>
              <a:t>Primary metric: Weighted F1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352544"/>
            <a:ext cx="6583680" cy="104241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55371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Aptos"/>
              </a:defRPr>
            </a:pPr>
            <a:r>
              <a:t>Why group separation matters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864608"/>
            <a:ext cx="5989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ptos"/>
              </a:defRPr>
            </a:pPr>
            <a:r>
              <a:t>Identical six-measurement signatures never cross train, validation and test partitions. This prevents duplicate copies from inflating the final score.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565392"/>
            <a:ext cx="4297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MamaCare Capstone  |  Collins Mikaye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475569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303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47857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65F46"/>
                </a:solidFill>
                <a:latin typeface="Aptos"/>
              </a:defRPr>
            </a:pPr>
            <a:r>
              <a:t>ShallowMLP won on validation Weighted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The model beats the baseline, but the three classes are not equally reliable.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1143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9384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WEIGHTED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16916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Aptos"/>
              </a:defRPr>
            </a:pPr>
            <a:r>
              <a:t>0.562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Aptos"/>
              </a:defRPr>
            </a:pPr>
            <a:r>
              <a:t>Baseline 0.228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178308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16352" y="178308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1929384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167128"/>
            <a:ext cx="16916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Aptos"/>
              </a:defRPr>
            </a:pPr>
            <a:r>
              <a:t>0.574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587752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Aptos"/>
              </a:defRPr>
            </a:pPr>
            <a:r>
              <a:t>Equal class weighting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74336" y="178308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74336" y="1783080"/>
            <a:ext cx="73152" cy="1143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929384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HIGH RISK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167128"/>
            <a:ext cx="16916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Aptos"/>
              </a:defRPr>
            </a:pPr>
            <a:r>
              <a:t>0.818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2587752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Aptos"/>
              </a:defRPr>
            </a:pPr>
            <a:r>
              <a:t>45 of 55 identified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78308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0" y="1783080"/>
            <a:ext cx="73152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1" y="1929384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MID RISK 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1" y="2167128"/>
            <a:ext cx="16916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Aptos"/>
              </a:defRPr>
            </a:pPr>
            <a:r>
              <a:t>0.149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1" y="2587752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Aptos"/>
              </a:defRPr>
            </a:pPr>
            <a:r>
              <a:t>Major weakness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90304" y="178308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90304" y="1783080"/>
            <a:ext cx="73152" cy="1143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1929384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2167128"/>
            <a:ext cx="16916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Aptos"/>
              </a:defRPr>
            </a:pPr>
            <a:r>
              <a:t>0.601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616" y="2587752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75569"/>
                </a:solidFill>
                <a:latin typeface="Aptos"/>
              </a:defRPr>
            </a:pPr>
            <a:r>
              <a:t>Untouched test set</a:t>
            </a:r>
          </a:p>
        </p:txBody>
      </p:sp>
      <p:pic>
        <p:nvPicPr>
          <p:cNvPr id="31" name="Picture 30" descr="baseline_v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154680"/>
            <a:ext cx="5303520" cy="2697480"/>
          </a:xfrm>
          <a:prstGeom prst="rect">
            <a:avLst/>
          </a:prstGeom>
        </p:spPr>
      </p:pic>
      <p:pic>
        <p:nvPicPr>
          <p:cNvPr id="32" name="Picture 31" descr="tes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154680"/>
            <a:ext cx="2788920" cy="269748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281160" y="3218688"/>
            <a:ext cx="2011680" cy="235915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73768" y="3493008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Aptos"/>
              </a:defRPr>
            </a:pPr>
            <a:r>
              <a:t>Honest finding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3768" y="3913632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Most Mid Risk records were predicted as Low Risk. MamaCare is not ready for clinical use.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3768" y="5047488"/>
            <a:ext cx="14173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Strong High Risk recall does not cancel the weak middle-class performance.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65392"/>
            <a:ext cx="4297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MamaCare Capstone  |  Collins Mikaye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475569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303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47857"/>
                </a:solidFill>
                <a:latin typeface="Aptos"/>
              </a:defRPr>
            </a:pPr>
            <a:r>
              <a:t>LIMITATIONS AND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65F46"/>
                </a:solidFill>
                <a:latin typeface="Aptos"/>
              </a:defRPr>
            </a:pPr>
            <a:r>
              <a:t>Age-group performance is not equal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Equal Opportunity was assessed through High Risk recall by age group.</a:t>
            </a:r>
          </a:p>
        </p:txBody>
      </p:sp>
      <p:pic>
        <p:nvPicPr>
          <p:cNvPr id="6" name="Picture 5" descr="age_group_high_risk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5852160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12280" y="1755648"/>
            <a:ext cx="4572000" cy="1051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0608" y="1956816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Aptos"/>
              </a:defRPr>
            </a:pPr>
            <a:r>
              <a:t>Fairness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865376"/>
            <a:ext cx="1920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2500" b="1">
                <a:solidFill>
                  <a:srgbClr val="DC2626"/>
                </a:solidFill>
                <a:latin typeface="Aptos"/>
              </a:defRPr>
            </a:pPr>
            <a:r>
              <a:t>58.0%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230428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difference between the best and worst age-group High Risk 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063240"/>
            <a:ext cx="4572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8" y="3328416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65F46"/>
                </a:solidFill>
                <a:latin typeface="Aptos"/>
              </a:defRPr>
            </a:pPr>
            <a:r>
              <a:t>Professional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3730752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3730752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ptos"/>
              </a:defRPr>
            </a:pPr>
            <a:r>
              <a:t>Dataset is small, duplicated and not Kenyan clinical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4123944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4123944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ptos"/>
              </a:defRPr>
            </a:pPr>
            <a:r>
              <a:t>Contradictory labels limit what any model can learn.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4517136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4517136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ptos"/>
              </a:defRPr>
            </a:pPr>
            <a:r>
              <a:t>No diagnosis, treatment, triage or emergency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910327"/>
            <a:ext cx="182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4910327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ptos"/>
              </a:defRPr>
            </a:pPr>
            <a:r>
              <a:t>Real use would require human review, redress and monitoring.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65392"/>
            <a:ext cx="4297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MamaCare Capstone  |  Collins Mikaye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475569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5303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47857"/>
                </a:solidFill>
                <a:latin typeface="Aptos"/>
              </a:defRPr>
            </a:pPr>
            <a:r>
              <a:t>CONCLUSION AND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65F46"/>
                </a:solidFill>
                <a:latin typeface="Aptos"/>
              </a:defRPr>
            </a:pPr>
            <a:r>
              <a:t>MamaCare is a complete portfolio artefact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The final repository combines code, evidence, documentation and a polished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48006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75104"/>
            <a:ext cx="3383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65F46"/>
                </a:solidFill>
                <a:latin typeface="Aptos"/>
              </a:defRPr>
            </a:pPr>
            <a:r>
              <a:t>Three findings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2468880"/>
            <a:ext cx="420624" cy="42062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542032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65F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459736"/>
            <a:ext cx="3520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ShallowMLP beat the no-learning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3319272"/>
            <a:ext cx="420624" cy="42062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392424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65F4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310128"/>
            <a:ext cx="3520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High Risk recall reached 81.8%, but Mid Risk recall was only 14.9%.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4169664"/>
            <a:ext cx="420624" cy="42062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242816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65F4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160520"/>
            <a:ext cx="3520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Leakage-resistant evaluation exposed the real effect of duplicates and conflicting labels.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5074920"/>
            <a:ext cx="4069080" cy="53035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230368"/>
            <a:ext cx="36576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7C2D12"/>
                </a:solidFill>
                <a:latin typeface="Aptos"/>
              </a:defRPr>
            </a:pPr>
            <a:r>
              <a:t>Next step: locally validated maternal-health data and prospective clinical review.</a:t>
            </a:r>
          </a:p>
        </p:txBody>
      </p:sp>
      <p:pic>
        <p:nvPicPr>
          <p:cNvPr id="19" name="Picture 18" descr="mamacare_fronten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27632"/>
            <a:ext cx="5715000" cy="4480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35040" y="5897880"/>
            <a:ext cx="5212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ptos"/>
              </a:defRPr>
            </a:pPr>
            <a:r>
              <a:t>Live demo: load a demonstration case, assess the record, explain the model scores, then show the fairness and limitations tabs.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65392"/>
            <a:ext cx="4297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MamaCare Capstone  |  Collins Mikaye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47104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475569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